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1" r:id="rId4"/>
    <p:sldId id="262" r:id="rId5"/>
    <p:sldId id="260" r:id="rId6"/>
    <p:sldId id="267" r:id="rId7"/>
    <p:sldId id="263" r:id="rId8"/>
    <p:sldId id="264" r:id="rId9"/>
    <p:sldId id="266" r:id="rId10"/>
    <p:sldId id="259" r:id="rId11"/>
    <p:sldId id="257" r:id="rId12"/>
    <p:sldId id="258" r:id="rId1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5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99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80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45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73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56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18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35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07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80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1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21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AAD1D-DEDA-4A6B-9C96-ABACE7990C54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B6EE6-A712-4703-83AF-2AC57BB24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4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34B7D2-186A-6AC0-1E49-58C99B376346}"/>
              </a:ext>
            </a:extLst>
          </p:cNvPr>
          <p:cNvSpPr txBox="1"/>
          <p:nvPr/>
        </p:nvSpPr>
        <p:spPr>
          <a:xfrm>
            <a:off x="410731" y="2321005"/>
            <a:ext cx="908453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38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</a:t>
            </a:r>
            <a:r>
              <a:rPr kumimoji="1" lang="ja-JP" altLang="en-US" sz="138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ノ</a:t>
            </a:r>
            <a:r>
              <a:rPr kumimoji="1" lang="ja-JP" altLang="en-US" sz="13800">
                <a:latin typeface="装甲明朝" panose="02000600000000000000" pitchFamily="2" charset="-128"/>
                <a:ea typeface="装甲明朝" panose="02000600000000000000" pitchFamily="2" charset="-128"/>
              </a:rPr>
              <a:t>ナカ</a:t>
            </a:r>
          </a:p>
        </p:txBody>
      </p:sp>
    </p:spTree>
    <p:extLst>
      <p:ext uri="{BB962C8B-B14F-4D97-AF65-F5344CB8AC3E}">
        <p14:creationId xmlns:p14="http://schemas.microsoft.com/office/powerpoint/2010/main" val="344304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F272C-3257-0F9A-8B40-71EDC5E0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990FC9-608A-8FD6-444A-03F1198F619D}"/>
              </a:ext>
            </a:extLst>
          </p:cNvPr>
          <p:cNvSpPr txBox="1"/>
          <p:nvPr/>
        </p:nvSpPr>
        <p:spPr>
          <a:xfrm>
            <a:off x="213563" y="5786970"/>
            <a:ext cx="9478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貼って戦い、ハコノナカを制せよ。</a:t>
            </a:r>
            <a:endParaRPr kumimoji="1" lang="ja-JP" altLang="en-US" sz="54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686EB8F-D5BB-601C-1046-60EE6DA2CA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66694"/>
            <a:ext cx="9906000" cy="55721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64BFA2-9B20-D663-0272-93B4A4F2B76F}"/>
              </a:ext>
            </a:extLst>
          </p:cNvPr>
          <p:cNvSpPr txBox="1"/>
          <p:nvPr/>
        </p:nvSpPr>
        <p:spPr>
          <a:xfrm>
            <a:off x="9205312" y="82028"/>
            <a:ext cx="609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1/5</a:t>
            </a:r>
            <a:endParaRPr kumimoji="1" lang="ja-JP" altLang="en-US" sz="28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A7BFE26-7421-AB3D-F8D9-B36C79ED7117}"/>
              </a:ext>
            </a:extLst>
          </p:cNvPr>
          <p:cNvSpPr txBox="1"/>
          <p:nvPr/>
        </p:nvSpPr>
        <p:spPr>
          <a:xfrm>
            <a:off x="91227" y="82028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ゲーム体験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AF19FB5-8A97-CD21-B815-8E0F3EEEC73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9427">
            <a:off x="8872120" y="2584265"/>
            <a:ext cx="781768" cy="78176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B98D765-7E4C-BF49-D25A-4A392019C6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9427">
            <a:off x="536686" y="2584265"/>
            <a:ext cx="781768" cy="78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1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17896-523C-8A07-9FA5-E7B30B28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176DCB7-F572-83C7-1A29-55BC3BBD4E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53001" y="0"/>
            <a:ext cx="4953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3" name="図 72">
            <a:extLst>
              <a:ext uri="{FF2B5EF4-FFF2-40B4-BE49-F238E27FC236}">
                <a16:creationId xmlns:a16="http://schemas.microsoft.com/office/drawing/2014/main" id="{94F0DF16-2D33-6E92-7A24-82ABE9F94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113" y="1549278"/>
            <a:ext cx="5267775" cy="29631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5DE7DCC-E5A2-4CDD-F50C-A44B63D9ECBE}"/>
              </a:ext>
            </a:extLst>
          </p:cNvPr>
          <p:cNvSpPr/>
          <p:nvPr/>
        </p:nvSpPr>
        <p:spPr>
          <a:xfrm>
            <a:off x="0" y="5846233"/>
            <a:ext cx="9944101" cy="1011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F8E0E1-8E1E-D141-4BC5-F3716F81B686}"/>
              </a:ext>
            </a:extLst>
          </p:cNvPr>
          <p:cNvSpPr txBox="1"/>
          <p:nvPr/>
        </p:nvSpPr>
        <p:spPr>
          <a:xfrm>
            <a:off x="3086141" y="5977008"/>
            <a:ext cx="37337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陣営を選べ！</a:t>
            </a:r>
            <a:endParaRPr kumimoji="1" lang="ja-JP" altLang="en-US" sz="54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874BE7E-93C9-F7EE-F508-237078C86587}"/>
              </a:ext>
            </a:extLst>
          </p:cNvPr>
          <p:cNvSpPr txBox="1"/>
          <p:nvPr/>
        </p:nvSpPr>
        <p:spPr>
          <a:xfrm>
            <a:off x="9205312" y="82028"/>
            <a:ext cx="609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1/5</a:t>
            </a:r>
            <a:endParaRPr kumimoji="1" lang="ja-JP" altLang="en-US" sz="28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0069F4-7B41-BCB1-2D2A-173D4CDA076F}"/>
              </a:ext>
            </a:extLst>
          </p:cNvPr>
          <p:cNvSpPr txBox="1"/>
          <p:nvPr/>
        </p:nvSpPr>
        <p:spPr>
          <a:xfrm>
            <a:off x="91227" y="82028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ゲームシステム</a:t>
            </a:r>
            <a:endParaRPr kumimoji="1" lang="ja-JP" altLang="en-US" sz="28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9E889919-FE89-1EEA-68FB-5307691F7F49}"/>
              </a:ext>
            </a:extLst>
          </p:cNvPr>
          <p:cNvGrpSpPr/>
          <p:nvPr/>
        </p:nvGrpSpPr>
        <p:grpSpPr>
          <a:xfrm>
            <a:off x="305620" y="3914349"/>
            <a:ext cx="4125603" cy="1859919"/>
            <a:chOff x="305620" y="3914349"/>
            <a:chExt cx="4125603" cy="1859919"/>
          </a:xfrm>
        </p:grpSpPr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6B903F6-2C71-7758-895E-4D962042347E}"/>
                </a:ext>
              </a:extLst>
            </p:cNvPr>
            <p:cNvSpPr txBox="1"/>
            <p:nvPr/>
          </p:nvSpPr>
          <p:spPr>
            <a:xfrm>
              <a:off x="445438" y="4664565"/>
              <a:ext cx="364715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000">
                  <a:latin typeface="+mj-ea"/>
                  <a:ea typeface="+mj-ea"/>
                </a:rPr>
                <a:t>ハコを完全に封じ</a:t>
              </a:r>
              <a:br>
                <a:rPr kumimoji="1" lang="en-US" altLang="ja-JP" sz="3000">
                  <a:latin typeface="+mj-ea"/>
                  <a:ea typeface="+mj-ea"/>
                </a:rPr>
              </a:br>
              <a:r>
                <a:rPr kumimoji="1" lang="ja-JP" altLang="en-US" sz="3000">
                  <a:latin typeface="+mj-ea"/>
                  <a:ea typeface="+mj-ea"/>
                </a:rPr>
                <a:t>モノノケを滅却する</a:t>
              </a: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1D280F8E-712C-1D46-773A-0DDC2B6A691F}"/>
                </a:ext>
              </a:extLst>
            </p:cNvPr>
            <p:cNvSpPr txBox="1"/>
            <p:nvPr/>
          </p:nvSpPr>
          <p:spPr>
            <a:xfrm>
              <a:off x="445438" y="3914349"/>
              <a:ext cx="1210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000">
                  <a:latin typeface="+mj-ea"/>
                  <a:ea typeface="+mj-ea"/>
                </a:rPr>
                <a:t>目的</a:t>
              </a:r>
              <a:endParaRPr kumimoji="1" lang="ja-JP" altLang="en-US" sz="5400">
                <a:latin typeface="+mj-ea"/>
                <a:ea typeface="+mj-ea"/>
              </a:endParaRPr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9760CACE-EE33-DC75-E421-753B792992B4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" y="4669368"/>
              <a:ext cx="16205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0F6655F1-BEB3-A491-3202-27B9966B43A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59011" y="4821768"/>
              <a:ext cx="16205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12995F75-E174-EE9B-9C18-59BC0A249678}"/>
                </a:ext>
              </a:extLst>
            </p:cNvPr>
            <p:cNvGrpSpPr/>
            <p:nvPr/>
          </p:nvGrpSpPr>
          <p:grpSpPr>
            <a:xfrm rot="5400000" flipH="1">
              <a:off x="3325884" y="4668929"/>
              <a:ext cx="1056856" cy="1153822"/>
              <a:chOff x="523224" y="4630621"/>
              <a:chExt cx="1056856" cy="1153822"/>
            </a:xfrm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F7F0D957-FE50-03FE-F67B-CD15861A609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1051652" y="4293339"/>
                <a:ext cx="0" cy="10568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13DEE22C-A174-CDE8-5733-E8F62A55926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6752" y="5207532"/>
                <a:ext cx="115382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5A41F544-AFEA-078F-D6B3-D8BBF6108123}"/>
              </a:ext>
            </a:extLst>
          </p:cNvPr>
          <p:cNvGrpSpPr/>
          <p:nvPr/>
        </p:nvGrpSpPr>
        <p:grpSpPr>
          <a:xfrm>
            <a:off x="305620" y="607659"/>
            <a:ext cx="4125602" cy="2723973"/>
            <a:chOff x="305620" y="607659"/>
            <a:chExt cx="4125602" cy="2723973"/>
          </a:xfrm>
        </p:grpSpPr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5DCF1B56-86C6-D1FE-7BF1-29C682CC8E28}"/>
                </a:ext>
              </a:extLst>
            </p:cNvPr>
            <p:cNvSpPr/>
            <p:nvPr/>
          </p:nvSpPr>
          <p:spPr>
            <a:xfrm>
              <a:off x="1058333" y="666230"/>
              <a:ext cx="3372889" cy="662435"/>
            </a:xfrm>
            <a:prstGeom prst="roundRect">
              <a:avLst/>
            </a:prstGeom>
            <a:solidFill>
              <a:schemeClr val="tx1">
                <a:lumMod val="25000"/>
                <a:alpha val="50000"/>
              </a:schemeClr>
            </a:solidFill>
            <a:ln>
              <a:solidFill>
                <a:schemeClr val="bg1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5A596075-43A2-9B12-1BDD-5CF5E22E482B}"/>
                </a:ext>
              </a:extLst>
            </p:cNvPr>
            <p:cNvGrpSpPr/>
            <p:nvPr/>
          </p:nvGrpSpPr>
          <p:grpSpPr>
            <a:xfrm>
              <a:off x="305620" y="666231"/>
              <a:ext cx="1692519" cy="1692519"/>
              <a:chOff x="4483246" y="3219025"/>
              <a:chExt cx="1665251" cy="1665251"/>
            </a:xfrm>
            <a:effectLst>
              <a:glow rad="88900">
                <a:schemeClr val="tx1">
                  <a:alpha val="70000"/>
                </a:schemeClr>
              </a:glow>
            </a:effectLst>
            <a:scene3d>
              <a:camera prst="perspectiveLeft" fov="1200000">
                <a:rot lat="0" lon="600002" rev="0"/>
              </a:camera>
              <a:lightRig rig="threePt" dir="t"/>
            </a:scene3d>
          </p:grpSpPr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97FD4281-A011-6291-1D2C-8819F606FF9D}"/>
                  </a:ext>
                </a:extLst>
              </p:cNvPr>
              <p:cNvSpPr/>
              <p:nvPr/>
            </p:nvSpPr>
            <p:spPr>
              <a:xfrm>
                <a:off x="4483246" y="3219025"/>
                <a:ext cx="1665251" cy="1665251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6EB57D03-CD53-B7C3-45ED-B19DE9C3429C}"/>
                  </a:ext>
                </a:extLst>
              </p:cNvPr>
              <p:cNvGrpSpPr/>
              <p:nvPr/>
            </p:nvGrpSpPr>
            <p:grpSpPr>
              <a:xfrm>
                <a:off x="4788714" y="3667651"/>
                <a:ext cx="1054315" cy="767998"/>
                <a:chOff x="6786897" y="4358057"/>
                <a:chExt cx="1322470" cy="963332"/>
              </a:xfrm>
            </p:grpSpPr>
            <p:sp>
              <p:nvSpPr>
                <p:cNvPr id="17" name="月 16">
                  <a:extLst>
                    <a:ext uri="{FF2B5EF4-FFF2-40B4-BE49-F238E27FC236}">
                      <a16:creationId xmlns:a16="http://schemas.microsoft.com/office/drawing/2014/main" id="{6A092C48-0A06-ED5C-B1EA-EAF7E78263C7}"/>
                    </a:ext>
                  </a:extLst>
                </p:cNvPr>
                <p:cNvSpPr/>
                <p:nvPr/>
              </p:nvSpPr>
              <p:spPr>
                <a:xfrm rot="16200000">
                  <a:off x="7211850" y="4423873"/>
                  <a:ext cx="472563" cy="1322470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8" name="二等辺三角形 17">
                  <a:extLst>
                    <a:ext uri="{FF2B5EF4-FFF2-40B4-BE49-F238E27FC236}">
                      <a16:creationId xmlns:a16="http://schemas.microsoft.com/office/drawing/2014/main" id="{490EBB0F-091A-1B75-EF7F-22AA17610AD4}"/>
                    </a:ext>
                  </a:extLst>
                </p:cNvPr>
                <p:cNvSpPr/>
                <p:nvPr/>
              </p:nvSpPr>
              <p:spPr>
                <a:xfrm>
                  <a:off x="7047674" y="4358057"/>
                  <a:ext cx="800911" cy="878569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D672AA4E-0E5C-E7BC-3EA3-698547EE4A1A}"/>
                </a:ext>
              </a:extLst>
            </p:cNvPr>
            <p:cNvSpPr txBox="1"/>
            <p:nvPr/>
          </p:nvSpPr>
          <p:spPr>
            <a:xfrm>
              <a:off x="1991518" y="607659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000">
                  <a:latin typeface="+mj-ea"/>
                  <a:ea typeface="+mj-ea"/>
                </a:rPr>
                <a:t>ジュツシ</a:t>
              </a:r>
              <a:endParaRPr kumimoji="1" lang="ja-JP" altLang="en-US" sz="5400">
                <a:latin typeface="+mj-ea"/>
                <a:ea typeface="+mj-ea"/>
              </a:endParaRPr>
            </a:p>
          </p:txBody>
        </p:sp>
        <p:cxnSp>
          <p:nvCxnSpPr>
            <p:cNvPr id="40" name="コネクタ: カギ線 39">
              <a:extLst>
                <a:ext uri="{FF2B5EF4-FFF2-40B4-BE49-F238E27FC236}">
                  <a16:creationId xmlns:a16="http://schemas.microsoft.com/office/drawing/2014/main" id="{FBEC1555-864E-AC5E-105F-F6AB875C25BB}"/>
                </a:ext>
              </a:extLst>
            </p:cNvPr>
            <p:cNvCxnSpPr>
              <a:cxnSpLocks/>
              <a:stCxn id="15" idx="4"/>
            </p:cNvCxnSpPr>
            <p:nvPr/>
          </p:nvCxnSpPr>
          <p:spPr>
            <a:xfrm rot="16200000" flipH="1">
              <a:off x="1315049" y="2195581"/>
              <a:ext cx="972883" cy="1299220"/>
            </a:xfrm>
            <a:prstGeom prst="bentConnector2">
              <a:avLst/>
            </a:prstGeom>
            <a:ln w="63500">
              <a:gradFill>
                <a:gsLst>
                  <a:gs pos="0">
                    <a:schemeClr val="tx1"/>
                  </a:gs>
                  <a:gs pos="74000">
                    <a:schemeClr val="accent3">
                      <a:lumMod val="40000"/>
                      <a:lumOff val="60000"/>
                    </a:schemeClr>
                  </a:gs>
                  <a:gs pos="8300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5400000" scaled="1"/>
              </a:gra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99270C89-52BF-982D-7F9A-E9E26517D088}"/>
              </a:ext>
            </a:extLst>
          </p:cNvPr>
          <p:cNvSpPr/>
          <p:nvPr/>
        </p:nvSpPr>
        <p:spPr>
          <a:xfrm flipH="1">
            <a:off x="5474778" y="666230"/>
            <a:ext cx="3372889" cy="662435"/>
          </a:xfrm>
          <a:prstGeom prst="roundRect">
            <a:avLst/>
          </a:prstGeom>
          <a:solidFill>
            <a:schemeClr val="bg1">
              <a:lumMod val="10000"/>
              <a:lumOff val="90000"/>
              <a:alpha val="50000"/>
            </a:schemeClr>
          </a:solidFill>
          <a:ln>
            <a:solidFill>
              <a:schemeClr val="tx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F40EC533-CECD-E2A4-72F3-ECC3D9BB02EB}"/>
              </a:ext>
            </a:extLst>
          </p:cNvPr>
          <p:cNvSpPr/>
          <p:nvPr/>
        </p:nvSpPr>
        <p:spPr>
          <a:xfrm flipH="1">
            <a:off x="7907861" y="666231"/>
            <a:ext cx="1692519" cy="169251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>
                <a:lumMod val="10000"/>
              </a:schemeClr>
            </a:solidFill>
          </a:ln>
          <a:effectLst>
            <a:glow rad="88900">
              <a:schemeClr val="tx1">
                <a:lumMod val="10000"/>
                <a:alpha val="60000"/>
              </a:schemeClr>
            </a:glow>
          </a:effectLst>
          <a:scene3d>
            <a:camera prst="perspectiveLeft" fov="1200000">
              <a:rot lat="0" lon="600002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380F6AA-D9AD-33D8-EF93-A2BD0EA0CCCD}"/>
              </a:ext>
            </a:extLst>
          </p:cNvPr>
          <p:cNvSpPr txBox="1"/>
          <p:nvPr/>
        </p:nvSpPr>
        <p:spPr>
          <a:xfrm flipH="1">
            <a:off x="5677971" y="67538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>
                <a:solidFill>
                  <a:schemeClr val="tx1">
                    <a:lumMod val="10000"/>
                  </a:schemeClr>
                </a:solidFill>
                <a:latin typeface="+mn-ea"/>
              </a:rPr>
              <a:t>モノノケ</a:t>
            </a:r>
            <a:endParaRPr kumimoji="1" lang="ja-JP" altLang="en-US" sz="5400">
              <a:solidFill>
                <a:schemeClr val="tx1">
                  <a:lumMod val="10000"/>
                </a:schemeClr>
              </a:solidFill>
              <a:latin typeface="+mn-ea"/>
            </a:endParaRPr>
          </a:p>
        </p:txBody>
      </p:sp>
      <p:cxnSp>
        <p:nvCxnSpPr>
          <p:cNvPr id="56" name="コネクタ: カギ線 55">
            <a:extLst>
              <a:ext uri="{FF2B5EF4-FFF2-40B4-BE49-F238E27FC236}">
                <a16:creationId xmlns:a16="http://schemas.microsoft.com/office/drawing/2014/main" id="{2D025796-BCCE-1174-297B-C627E291035C}"/>
              </a:ext>
            </a:extLst>
          </p:cNvPr>
          <p:cNvCxnSpPr>
            <a:cxnSpLocks/>
            <a:stCxn id="57" idx="4"/>
          </p:cNvCxnSpPr>
          <p:nvPr/>
        </p:nvCxnSpPr>
        <p:spPr>
          <a:xfrm rot="5400000">
            <a:off x="7618069" y="2195581"/>
            <a:ext cx="972882" cy="1299220"/>
          </a:xfrm>
          <a:prstGeom prst="bentConnector2">
            <a:avLst/>
          </a:prstGeom>
          <a:ln w="63500">
            <a:gradFill>
              <a:gsLst>
                <a:gs pos="0">
                  <a:schemeClr val="tx1">
                    <a:lumMod val="1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168600B9-9A1C-3BCA-24E2-780FEBCC6522}"/>
              </a:ext>
            </a:extLst>
          </p:cNvPr>
          <p:cNvGrpSpPr/>
          <p:nvPr/>
        </p:nvGrpSpPr>
        <p:grpSpPr>
          <a:xfrm flipH="1">
            <a:off x="5474777" y="3971499"/>
            <a:ext cx="4125603" cy="1802769"/>
            <a:chOff x="305620" y="3971499"/>
            <a:chExt cx="4125603" cy="1802769"/>
          </a:xfrm>
        </p:grpSpPr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2B8977FA-3407-5B3B-39C1-7FA633DB6CA8}"/>
                </a:ext>
              </a:extLst>
            </p:cNvPr>
            <p:cNvSpPr txBox="1"/>
            <p:nvPr/>
          </p:nvSpPr>
          <p:spPr>
            <a:xfrm>
              <a:off x="799996" y="4723413"/>
              <a:ext cx="341632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solidFill>
                    <a:schemeClr val="tx1">
                      <a:lumMod val="10000"/>
                    </a:schemeClr>
                  </a:solidFill>
                  <a:latin typeface="+mn-ea"/>
                </a:rPr>
                <a:t>ハコの封印を解除し</a:t>
              </a:r>
              <a:br>
                <a:rPr kumimoji="1" lang="en-US" altLang="ja-JP" sz="2800">
                  <a:solidFill>
                    <a:schemeClr val="tx1">
                      <a:lumMod val="10000"/>
                    </a:schemeClr>
                  </a:solidFill>
                  <a:latin typeface="+mn-ea"/>
                </a:rPr>
              </a:br>
              <a:r>
                <a:rPr kumimoji="1" lang="ja-JP" altLang="en-US" sz="2800">
                  <a:solidFill>
                    <a:schemeClr val="tx1">
                      <a:lumMod val="10000"/>
                    </a:schemeClr>
                  </a:solidFill>
                  <a:latin typeface="+mn-ea"/>
                </a:rPr>
                <a:t>ジュツシに復讐する</a:t>
              </a:r>
              <a:endParaRPr kumimoji="1" lang="ja-JP" altLang="en-US" sz="4000">
                <a:solidFill>
                  <a:schemeClr val="tx1">
                    <a:lumMod val="10000"/>
                  </a:schemeClr>
                </a:solidFill>
                <a:latin typeface="+mn-ea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55A4A79F-F297-F163-6E92-84B9227BAAF4}"/>
                </a:ext>
              </a:extLst>
            </p:cNvPr>
            <p:cNvSpPr txBox="1"/>
            <p:nvPr/>
          </p:nvSpPr>
          <p:spPr>
            <a:xfrm>
              <a:off x="445438" y="3971499"/>
              <a:ext cx="1210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000">
                  <a:solidFill>
                    <a:schemeClr val="tx1">
                      <a:lumMod val="10000"/>
                    </a:schemeClr>
                  </a:solidFill>
                  <a:latin typeface="+mn-ea"/>
                </a:rPr>
                <a:t>目的</a:t>
              </a:r>
              <a:endParaRPr kumimoji="1" lang="ja-JP" altLang="en-US" sz="5400">
                <a:solidFill>
                  <a:schemeClr val="tx1">
                    <a:lumMod val="10000"/>
                  </a:schemeClr>
                </a:solidFill>
                <a:latin typeface="+mn-ea"/>
              </a:endParaRPr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48DA1C4C-F439-BBCA-3245-EF12ED95ECB4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" y="4669368"/>
              <a:ext cx="1620547" cy="0"/>
            </a:xfrm>
            <a:prstGeom prst="line">
              <a:avLst/>
            </a:prstGeom>
            <a:ln>
              <a:solidFill>
                <a:schemeClr val="tx1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134D58B2-3F77-FFCF-ED1A-4BBB929C18F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59011" y="4821768"/>
              <a:ext cx="1620547" cy="0"/>
            </a:xfrm>
            <a:prstGeom prst="line">
              <a:avLst/>
            </a:prstGeom>
            <a:ln>
              <a:solidFill>
                <a:schemeClr val="tx1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AAF999CF-6BCF-720C-33D8-C11DF61D7F7D}"/>
                </a:ext>
              </a:extLst>
            </p:cNvPr>
            <p:cNvGrpSpPr/>
            <p:nvPr/>
          </p:nvGrpSpPr>
          <p:grpSpPr>
            <a:xfrm rot="5400000" flipH="1">
              <a:off x="3325884" y="4668929"/>
              <a:ext cx="1056856" cy="1153822"/>
              <a:chOff x="523224" y="4630621"/>
              <a:chExt cx="1056856" cy="1153822"/>
            </a:xfrm>
          </p:grpSpPr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1E8C1853-2DD5-770B-C0AA-F6606117D79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1051652" y="4293339"/>
                <a:ext cx="0" cy="1056856"/>
              </a:xfrm>
              <a:prstGeom prst="line">
                <a:avLst/>
              </a:prstGeom>
              <a:ln>
                <a:solidFill>
                  <a:schemeClr val="tx1">
                    <a:lumMod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39AB0FA0-FC56-6078-20A7-ED5F49064B4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6752" y="5207532"/>
                <a:ext cx="1153822" cy="0"/>
              </a:xfrm>
              <a:prstGeom prst="line">
                <a:avLst/>
              </a:prstGeom>
              <a:ln>
                <a:solidFill>
                  <a:schemeClr val="tx1">
                    <a:lumMod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1" name="図 70">
            <a:extLst>
              <a:ext uri="{FF2B5EF4-FFF2-40B4-BE49-F238E27FC236}">
                <a16:creationId xmlns:a16="http://schemas.microsoft.com/office/drawing/2014/main" id="{9A4A402A-FF10-8604-169A-4113A465E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1" y="1003220"/>
            <a:ext cx="956558" cy="1018541"/>
          </a:xfrm>
          <a:prstGeom prst="rect">
            <a:avLst/>
          </a:prstGeom>
          <a:scene3d>
            <a:camera prst="perspectiveLeft" fov="1200000">
              <a:rot lat="0" lon="600000" rev="0"/>
            </a:camera>
            <a:lightRig rig="threePt" dir="t"/>
          </a:scene3d>
        </p:spPr>
      </p:pic>
      <p:sp>
        <p:nvSpPr>
          <p:cNvPr id="74" name="直角三角形 73">
            <a:extLst>
              <a:ext uri="{FF2B5EF4-FFF2-40B4-BE49-F238E27FC236}">
                <a16:creationId xmlns:a16="http://schemas.microsoft.com/office/drawing/2014/main" id="{82031ADE-7A66-5A53-59DE-3DF31FFCF37B}"/>
              </a:ext>
            </a:extLst>
          </p:cNvPr>
          <p:cNvSpPr/>
          <p:nvPr/>
        </p:nvSpPr>
        <p:spPr>
          <a:xfrm>
            <a:off x="0" y="5861572"/>
            <a:ext cx="914400" cy="99552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直角三角形 75">
            <a:extLst>
              <a:ext uri="{FF2B5EF4-FFF2-40B4-BE49-F238E27FC236}">
                <a16:creationId xmlns:a16="http://schemas.microsoft.com/office/drawing/2014/main" id="{759D2810-4217-49A1-5F58-0AEBD443EA55}"/>
              </a:ext>
            </a:extLst>
          </p:cNvPr>
          <p:cNvSpPr/>
          <p:nvPr/>
        </p:nvSpPr>
        <p:spPr>
          <a:xfrm flipH="1">
            <a:off x="8995933" y="5854356"/>
            <a:ext cx="914400" cy="99552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BC1A9EC0-139C-C4A1-B2D7-FBF9543FA06B}"/>
              </a:ext>
            </a:extLst>
          </p:cNvPr>
          <p:cNvSpPr txBox="1"/>
          <p:nvPr/>
        </p:nvSpPr>
        <p:spPr>
          <a:xfrm>
            <a:off x="4496786" y="708633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V</a:t>
            </a:r>
            <a:r>
              <a:rPr kumimoji="1" lang="en-US" altLang="ja-JP" sz="3200">
                <a:solidFill>
                  <a:schemeClr val="tx1">
                    <a:lumMod val="10000"/>
                  </a:schemeClr>
                </a:solidFill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S</a:t>
            </a:r>
            <a:endParaRPr kumimoji="1" lang="ja-JP" altLang="en-US" sz="4400">
              <a:solidFill>
                <a:schemeClr val="tx1">
                  <a:lumMod val="10000"/>
                </a:schemeClr>
              </a:solidFill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09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5000">
              <a:schemeClr val="accent3"/>
            </a:gs>
            <a:gs pos="25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CA982-B0A6-9DD7-60F8-6F0746DC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BCDF59A-EDA2-6569-99E9-2998F49CEC16}"/>
              </a:ext>
            </a:extLst>
          </p:cNvPr>
          <p:cNvSpPr/>
          <p:nvPr/>
        </p:nvSpPr>
        <p:spPr>
          <a:xfrm>
            <a:off x="-38101" y="1457997"/>
            <a:ext cx="9994901" cy="3484808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373BEB-BCFC-905E-6C6F-8AF669850D72}"/>
              </a:ext>
            </a:extLst>
          </p:cNvPr>
          <p:cNvSpPr txBox="1"/>
          <p:nvPr/>
        </p:nvSpPr>
        <p:spPr>
          <a:xfrm>
            <a:off x="365128" y="55291"/>
            <a:ext cx="59105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ハコの表面が戦場！？</a:t>
            </a:r>
            <a:endParaRPr kumimoji="1" lang="ja-JP" altLang="en-US" sz="54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9B5687-9DD3-7572-E583-E719AAB6A385}"/>
              </a:ext>
            </a:extLst>
          </p:cNvPr>
          <p:cNvSpPr txBox="1"/>
          <p:nvPr/>
        </p:nvSpPr>
        <p:spPr>
          <a:xfrm>
            <a:off x="2951885" y="6006771"/>
            <a:ext cx="6885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3</a:t>
            </a:r>
            <a:r>
              <a:rPr kumimoji="1" lang="ja-JP" altLang="en-US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枚の「オフダ」で戦え！</a:t>
            </a:r>
            <a:endParaRPr kumimoji="1" lang="ja-JP" altLang="en-US" sz="54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29538D8-7661-0369-43E9-D8FE14F41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736" y="1485751"/>
            <a:ext cx="6096528" cy="3429297"/>
          </a:xfrm>
          <a:prstGeom prst="rect">
            <a:avLst/>
          </a:prstGeom>
          <a:ln w="31750">
            <a:noFill/>
          </a:ln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56EE132-034C-11FE-0235-F338E3A5BF4C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4538133" y="2069951"/>
            <a:ext cx="429689" cy="364216"/>
          </a:xfrm>
          <a:prstGeom prst="line">
            <a:avLst/>
          </a:prstGeom>
          <a:ln w="63500">
            <a:solidFill>
              <a:schemeClr val="bg1">
                <a:lumMod val="10000"/>
                <a:lumOff val="90000"/>
              </a:schemeClr>
            </a:solidFill>
            <a:headEnd type="oval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A9CB219-A19D-802A-66D2-57144D9AA400}"/>
              </a:ext>
            </a:extLst>
          </p:cNvPr>
          <p:cNvGrpSpPr/>
          <p:nvPr/>
        </p:nvGrpSpPr>
        <p:grpSpPr>
          <a:xfrm>
            <a:off x="2760142" y="975388"/>
            <a:ext cx="4415360" cy="1094563"/>
            <a:chOff x="3365507" y="1203988"/>
            <a:chExt cx="4415360" cy="1094563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E05C1F36-AF93-2171-5707-DC6BAC5C5A04}"/>
                </a:ext>
              </a:extLst>
            </p:cNvPr>
            <p:cNvGrpSpPr/>
            <p:nvPr/>
          </p:nvGrpSpPr>
          <p:grpSpPr>
            <a:xfrm>
              <a:off x="3365507" y="1244600"/>
              <a:ext cx="4415360" cy="1053951"/>
              <a:chOff x="4872567" y="1295251"/>
              <a:chExt cx="2180166" cy="838200"/>
            </a:xfrm>
            <a:effectLst>
              <a:glow rad="63500">
                <a:schemeClr val="tx1">
                  <a:alpha val="40000"/>
                </a:schemeClr>
              </a:glow>
            </a:effectLst>
          </p:grpSpPr>
          <p:sp>
            <p:nvSpPr>
              <p:cNvPr id="11" name="四角形: 上の 2 つの角を丸める 10">
                <a:extLst>
                  <a:ext uri="{FF2B5EF4-FFF2-40B4-BE49-F238E27FC236}">
                    <a16:creationId xmlns:a16="http://schemas.microsoft.com/office/drawing/2014/main" id="{F0F7858D-2D84-46A5-F1E4-391C81F0BDF9}"/>
                  </a:ext>
                </a:extLst>
              </p:cNvPr>
              <p:cNvSpPr/>
              <p:nvPr/>
            </p:nvSpPr>
            <p:spPr>
              <a:xfrm>
                <a:off x="4872567" y="1295251"/>
                <a:ext cx="2180166" cy="351516"/>
              </a:xfrm>
              <a:prstGeom prst="round2SameRect">
                <a:avLst/>
              </a:prstGeom>
              <a:solidFill>
                <a:schemeClr val="bg1">
                  <a:lumMod val="10000"/>
                  <a:lumOff val="90000"/>
                </a:schemeClr>
              </a:solidFill>
              <a:ln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四角形: 上の 2 つの角を丸める 12">
                <a:extLst>
                  <a:ext uri="{FF2B5EF4-FFF2-40B4-BE49-F238E27FC236}">
                    <a16:creationId xmlns:a16="http://schemas.microsoft.com/office/drawing/2014/main" id="{A4E2792F-6D88-7475-FF7F-0BD88E90F42E}"/>
                  </a:ext>
                </a:extLst>
              </p:cNvPr>
              <p:cNvSpPr/>
              <p:nvPr/>
            </p:nvSpPr>
            <p:spPr>
              <a:xfrm flipV="1">
                <a:off x="4872567" y="1646767"/>
                <a:ext cx="2180166" cy="486684"/>
              </a:xfrm>
              <a:prstGeom prst="round2SameRect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EB9E4DE-CF53-5A5E-6A9B-A8445360B308}"/>
                </a:ext>
              </a:extLst>
            </p:cNvPr>
            <p:cNvSpPr txBox="1"/>
            <p:nvPr/>
          </p:nvSpPr>
          <p:spPr>
            <a:xfrm>
              <a:off x="4583173" y="1203988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800">
                  <a:solidFill>
                    <a:schemeClr val="tx1">
                      <a:lumMod val="10000"/>
                    </a:schemeClr>
                  </a:solidFill>
                  <a:latin typeface="+mj-ea"/>
                  <a:ea typeface="+mj-ea"/>
                </a:rPr>
                <a:t>ハコの表面</a:t>
              </a:r>
              <a:endParaRPr kumimoji="1" lang="ja-JP" altLang="en-US" sz="4000">
                <a:solidFill>
                  <a:schemeClr val="tx1">
                    <a:lumMod val="1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7D25F57C-1276-256B-2626-A8C988B9CDF5}"/>
                </a:ext>
              </a:extLst>
            </p:cNvPr>
            <p:cNvSpPr txBox="1"/>
            <p:nvPr/>
          </p:nvSpPr>
          <p:spPr>
            <a:xfrm>
              <a:off x="3557250" y="1812824"/>
              <a:ext cx="40318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solidFill>
                    <a:schemeClr val="tx1">
                      <a:lumMod val="10000"/>
                    </a:schemeClr>
                  </a:solidFill>
                  <a:latin typeface="+mn-ea"/>
                </a:rPr>
                <a:t>オフダの召喚物が自動で戦う戦場</a:t>
              </a:r>
              <a:endParaRPr kumimoji="1" lang="ja-JP" altLang="en-US" sz="3200">
                <a:solidFill>
                  <a:schemeClr val="tx1">
                    <a:lumMod val="1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83C3E3B-EA33-FE43-ABB6-909C85BF5BBE}"/>
              </a:ext>
            </a:extLst>
          </p:cNvPr>
          <p:cNvGrpSpPr/>
          <p:nvPr/>
        </p:nvGrpSpPr>
        <p:grpSpPr>
          <a:xfrm>
            <a:off x="1537780" y="4826592"/>
            <a:ext cx="6830441" cy="1053951"/>
            <a:chOff x="4872567" y="1295251"/>
            <a:chExt cx="2180166" cy="838200"/>
          </a:xfrm>
          <a:effectLst>
            <a:glow rad="63500">
              <a:schemeClr val="tx1">
                <a:alpha val="40000"/>
              </a:schemeClr>
            </a:glow>
          </a:effectLst>
        </p:grpSpPr>
        <p:sp>
          <p:nvSpPr>
            <p:cNvPr id="29" name="四角形: 上の 2 つの角を丸める 28">
              <a:extLst>
                <a:ext uri="{FF2B5EF4-FFF2-40B4-BE49-F238E27FC236}">
                  <a16:creationId xmlns:a16="http://schemas.microsoft.com/office/drawing/2014/main" id="{EFADA4B1-4461-B0DB-64A1-E1E0EE6636AB}"/>
                </a:ext>
              </a:extLst>
            </p:cNvPr>
            <p:cNvSpPr/>
            <p:nvPr/>
          </p:nvSpPr>
          <p:spPr>
            <a:xfrm>
              <a:off x="4872567" y="1295251"/>
              <a:ext cx="2180166" cy="351516"/>
            </a:xfrm>
            <a:prstGeom prst="round2SameRect">
              <a:avLst/>
            </a:prstGeom>
            <a:solidFill>
              <a:schemeClr val="bg1">
                <a:lumMod val="10000"/>
                <a:lumOff val="90000"/>
              </a:schemeClr>
            </a:solidFill>
            <a:ln>
              <a:solidFill>
                <a:schemeClr val="bg1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四角形: 上の 2 つの角を丸める 29">
              <a:extLst>
                <a:ext uri="{FF2B5EF4-FFF2-40B4-BE49-F238E27FC236}">
                  <a16:creationId xmlns:a16="http://schemas.microsoft.com/office/drawing/2014/main" id="{1C7AE10B-AC0F-ADB5-2038-621F6A6B1178}"/>
                </a:ext>
              </a:extLst>
            </p:cNvPr>
            <p:cNvSpPr/>
            <p:nvPr/>
          </p:nvSpPr>
          <p:spPr>
            <a:xfrm flipV="1">
              <a:off x="4872567" y="1646767"/>
              <a:ext cx="2180166" cy="486684"/>
            </a:xfrm>
            <a:prstGeom prst="round2Same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E25CD95-1F9E-73F4-9E8F-8C9B8881377E}"/>
              </a:ext>
            </a:extLst>
          </p:cNvPr>
          <p:cNvSpPr txBox="1"/>
          <p:nvPr/>
        </p:nvSpPr>
        <p:spPr>
          <a:xfrm>
            <a:off x="4322058" y="478598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tx1">
                    <a:lumMod val="10000"/>
                  </a:schemeClr>
                </a:solidFill>
                <a:latin typeface="+mj-ea"/>
                <a:ea typeface="+mj-ea"/>
              </a:rPr>
              <a:t>オフダ</a:t>
            </a:r>
            <a:endParaRPr kumimoji="1" lang="ja-JP" altLang="en-US" sz="4000">
              <a:solidFill>
                <a:schemeClr val="tx1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5C70EBD-0D1B-26B3-78C4-755FEAC0F323}"/>
              </a:ext>
            </a:extLst>
          </p:cNvPr>
          <p:cNvSpPr txBox="1"/>
          <p:nvPr/>
        </p:nvSpPr>
        <p:spPr>
          <a:xfrm>
            <a:off x="1782902" y="5394816"/>
            <a:ext cx="6340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solidFill>
                  <a:schemeClr val="tx1">
                    <a:lumMod val="10000"/>
                  </a:schemeClr>
                </a:solidFill>
                <a:latin typeface="+mn-ea"/>
              </a:rPr>
              <a:t>ハコに貼ると、種類に応じて異なるものを召喚出来る</a:t>
            </a:r>
            <a:endParaRPr kumimoji="1" lang="ja-JP" altLang="en-US" sz="3200">
              <a:solidFill>
                <a:schemeClr val="tx1">
                  <a:lumMod val="10000"/>
                </a:schemeClr>
              </a:solidFill>
              <a:latin typeface="+mn-ea"/>
            </a:endParaRP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A4465D9-70A4-205C-84B6-2DD3DAFA4E69}"/>
              </a:ext>
            </a:extLst>
          </p:cNvPr>
          <p:cNvCxnSpPr>
            <a:cxnSpLocks/>
          </p:cNvCxnSpPr>
          <p:nvPr/>
        </p:nvCxnSpPr>
        <p:spPr>
          <a:xfrm>
            <a:off x="2700867" y="3429000"/>
            <a:ext cx="766233" cy="1397592"/>
          </a:xfrm>
          <a:prstGeom prst="line">
            <a:avLst/>
          </a:prstGeom>
          <a:ln w="63500">
            <a:solidFill>
              <a:schemeClr val="bg1">
                <a:lumMod val="10000"/>
                <a:lumOff val="90000"/>
              </a:schemeClr>
            </a:solidFill>
            <a:headEnd type="oval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2EEB3BCF-191C-37C1-745C-0F98FC450DB7}"/>
              </a:ext>
            </a:extLst>
          </p:cNvPr>
          <p:cNvCxnSpPr>
            <a:cxnSpLocks/>
          </p:cNvCxnSpPr>
          <p:nvPr/>
        </p:nvCxnSpPr>
        <p:spPr>
          <a:xfrm flipH="1">
            <a:off x="6692900" y="3762626"/>
            <a:ext cx="482602" cy="1063965"/>
          </a:xfrm>
          <a:prstGeom prst="line">
            <a:avLst/>
          </a:prstGeom>
          <a:ln w="63500">
            <a:solidFill>
              <a:schemeClr val="bg1">
                <a:lumMod val="10000"/>
                <a:lumOff val="90000"/>
              </a:schemeClr>
            </a:solidFill>
            <a:headEnd type="oval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821D4A76-9323-AFF0-BAD7-CBC2742EDE07}"/>
              </a:ext>
            </a:extLst>
          </p:cNvPr>
          <p:cNvGrpSpPr/>
          <p:nvPr/>
        </p:nvGrpSpPr>
        <p:grpSpPr>
          <a:xfrm>
            <a:off x="7977952" y="1666837"/>
            <a:ext cx="1812864" cy="2960197"/>
            <a:chOff x="163277" y="1666837"/>
            <a:chExt cx="1812864" cy="2960197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BB1D32C8-DA87-D34C-41FF-78CC63CF9BBD}"/>
                </a:ext>
              </a:extLst>
            </p:cNvPr>
            <p:cNvGrpSpPr/>
            <p:nvPr/>
          </p:nvGrpSpPr>
          <p:grpSpPr>
            <a:xfrm>
              <a:off x="163277" y="1666837"/>
              <a:ext cx="1806553" cy="2960197"/>
              <a:chOff x="4872567" y="1295251"/>
              <a:chExt cx="2180166" cy="1046156"/>
            </a:xfrm>
            <a:effectLst/>
          </p:grpSpPr>
          <p:sp>
            <p:nvSpPr>
              <p:cNvPr id="42" name="四角形: 上の 2 つの角を丸める 41">
                <a:extLst>
                  <a:ext uri="{FF2B5EF4-FFF2-40B4-BE49-F238E27FC236}">
                    <a16:creationId xmlns:a16="http://schemas.microsoft.com/office/drawing/2014/main" id="{E01373B5-21AD-25C9-A237-690E9EA9AF22}"/>
                  </a:ext>
                </a:extLst>
              </p:cNvPr>
              <p:cNvSpPr/>
              <p:nvPr/>
            </p:nvSpPr>
            <p:spPr>
              <a:xfrm>
                <a:off x="4872567" y="1295251"/>
                <a:ext cx="2180166" cy="170888"/>
              </a:xfrm>
              <a:prstGeom prst="round2SameRect">
                <a:avLst/>
              </a:prstGeom>
              <a:solidFill>
                <a:schemeClr val="accent1">
                  <a:lumMod val="20000"/>
                  <a:lumOff val="8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3" name="四角形: 上の 2 つの角を丸める 42">
                <a:extLst>
                  <a:ext uri="{FF2B5EF4-FFF2-40B4-BE49-F238E27FC236}">
                    <a16:creationId xmlns:a16="http://schemas.microsoft.com/office/drawing/2014/main" id="{31EB059E-151F-681F-C28D-0BDBB3C11130}"/>
                  </a:ext>
                </a:extLst>
              </p:cNvPr>
              <p:cNvSpPr/>
              <p:nvPr/>
            </p:nvSpPr>
            <p:spPr>
              <a:xfrm flipV="1">
                <a:off x="4872567" y="1466139"/>
                <a:ext cx="2180166" cy="875268"/>
              </a:xfrm>
              <a:prstGeom prst="round2SameRect">
                <a:avLst>
                  <a:gd name="adj1" fmla="val 9403"/>
                  <a:gd name="adj2" fmla="val 0"/>
                </a:avLst>
              </a:prstGeom>
              <a:solidFill>
                <a:schemeClr val="accent1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7E668B10-4ACA-EBB6-207A-35CF4725272E}"/>
                </a:ext>
              </a:extLst>
            </p:cNvPr>
            <p:cNvSpPr txBox="1"/>
            <p:nvPr/>
          </p:nvSpPr>
          <p:spPr>
            <a:xfrm>
              <a:off x="204779" y="1732792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>
                  <a:latin typeface="+mn-ea"/>
                </a:rPr>
                <a:t>オフダ豆知識</a:t>
              </a:r>
              <a:endParaRPr kumimoji="1" lang="ja-JP" altLang="en-US" sz="3200">
                <a:latin typeface="+mn-ea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785A45F4-5F60-D7AC-FC77-42C8291502D6}"/>
                </a:ext>
              </a:extLst>
            </p:cNvPr>
            <p:cNvSpPr txBox="1"/>
            <p:nvPr/>
          </p:nvSpPr>
          <p:spPr>
            <a:xfrm>
              <a:off x="175648" y="2357354"/>
              <a:ext cx="1800493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>
                  <a:latin typeface="+mn-ea"/>
                </a:rPr>
                <a:t>同じ種類なら</a:t>
              </a:r>
              <a:br>
                <a:rPr kumimoji="1" lang="en-US" altLang="ja-JP" sz="1400">
                  <a:latin typeface="+mn-ea"/>
                </a:rPr>
              </a:br>
              <a:r>
                <a:rPr kumimoji="1" lang="ja-JP" altLang="en-US" sz="1400">
                  <a:latin typeface="+mn-ea"/>
                </a:rPr>
                <a:t>重ねて貼れる！</a:t>
              </a:r>
              <a:br>
                <a:rPr kumimoji="1" lang="en-US" altLang="ja-JP" sz="1400">
                  <a:latin typeface="+mn-ea"/>
                </a:rPr>
              </a:br>
              <a:br>
                <a:rPr kumimoji="1" lang="en-US" altLang="ja-JP" sz="1400">
                  <a:latin typeface="+mn-ea"/>
                </a:rPr>
              </a:br>
              <a:r>
                <a:rPr kumimoji="1" lang="ja-JP" altLang="en-US" sz="1400">
                  <a:latin typeface="+mn-ea"/>
                </a:rPr>
                <a:t>重ねれば</a:t>
              </a:r>
              <a:br>
                <a:rPr kumimoji="1" lang="en-US" altLang="ja-JP" sz="1400">
                  <a:latin typeface="+mn-ea"/>
                </a:rPr>
              </a:br>
              <a:r>
                <a:rPr kumimoji="1" lang="en-US" altLang="ja-JP" sz="1400">
                  <a:latin typeface="+mn-ea"/>
                </a:rPr>
                <a:t>Lv</a:t>
              </a:r>
              <a:r>
                <a:rPr kumimoji="1" lang="ja-JP" altLang="en-US" sz="1400">
                  <a:latin typeface="+mn-ea"/>
                </a:rPr>
                <a:t>が上昇し、</a:t>
              </a:r>
              <a:br>
                <a:rPr kumimoji="1" lang="en-US" altLang="ja-JP" sz="1400">
                  <a:latin typeface="+mn-ea"/>
                </a:rPr>
              </a:br>
              <a:r>
                <a:rPr kumimoji="1" lang="ja-JP" altLang="en-US" sz="1400">
                  <a:latin typeface="+mn-ea"/>
                </a:rPr>
                <a:t>召喚物が強力に！</a:t>
              </a:r>
              <a:br>
                <a:rPr kumimoji="1" lang="en-US" altLang="ja-JP" sz="1400">
                  <a:latin typeface="+mn-ea"/>
                </a:rPr>
              </a:br>
              <a:br>
                <a:rPr kumimoji="1" lang="en-US" altLang="ja-JP" sz="1400">
                  <a:latin typeface="+mn-ea"/>
                </a:rPr>
              </a:br>
              <a:r>
                <a:rPr kumimoji="1" lang="ja-JP" altLang="en-US" sz="1400">
                  <a:latin typeface="+mn-ea"/>
                </a:rPr>
                <a:t>貼る枚数は無制限、</a:t>
              </a:r>
              <a:br>
                <a:rPr kumimoji="1" lang="en-US" altLang="ja-JP" sz="1400">
                  <a:latin typeface="+mn-ea"/>
                </a:rPr>
              </a:br>
              <a:r>
                <a:rPr kumimoji="1" lang="ja-JP" altLang="en-US" sz="1400">
                  <a:latin typeface="+mn-ea"/>
                </a:rPr>
                <a:t>クールタイムに注意</a:t>
              </a:r>
              <a:endParaRPr kumimoji="1" lang="ja-JP" altLang="en-US" sz="2000">
                <a:latin typeface="+mn-ea"/>
              </a:endParaRPr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7C706DB8-8E31-4CCD-D425-B5C7B1C80923}"/>
              </a:ext>
            </a:extLst>
          </p:cNvPr>
          <p:cNvGrpSpPr/>
          <p:nvPr/>
        </p:nvGrpSpPr>
        <p:grpSpPr>
          <a:xfrm>
            <a:off x="134644" y="1662196"/>
            <a:ext cx="1866217" cy="2960197"/>
            <a:chOff x="146017" y="1666837"/>
            <a:chExt cx="1866217" cy="2960197"/>
          </a:xfrm>
        </p:grpSpPr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F024FAE4-2E32-800E-603F-3C801881C759}"/>
                </a:ext>
              </a:extLst>
            </p:cNvPr>
            <p:cNvGrpSpPr/>
            <p:nvPr/>
          </p:nvGrpSpPr>
          <p:grpSpPr>
            <a:xfrm>
              <a:off x="163277" y="1666837"/>
              <a:ext cx="1806553" cy="2960197"/>
              <a:chOff x="4872567" y="1295251"/>
              <a:chExt cx="2180166" cy="1046156"/>
            </a:xfrm>
            <a:effectLst/>
          </p:grpSpPr>
          <p:sp>
            <p:nvSpPr>
              <p:cNvPr id="53" name="四角形: 上の 2 つの角を丸める 52">
                <a:extLst>
                  <a:ext uri="{FF2B5EF4-FFF2-40B4-BE49-F238E27FC236}">
                    <a16:creationId xmlns:a16="http://schemas.microsoft.com/office/drawing/2014/main" id="{7B2291F8-DD65-72EA-39EC-FC19F6C93F7E}"/>
                  </a:ext>
                </a:extLst>
              </p:cNvPr>
              <p:cNvSpPr/>
              <p:nvPr/>
            </p:nvSpPr>
            <p:spPr>
              <a:xfrm>
                <a:off x="4872567" y="1295251"/>
                <a:ext cx="2180166" cy="170888"/>
              </a:xfrm>
              <a:prstGeom prst="round2SameRect">
                <a:avLst/>
              </a:prstGeom>
              <a:solidFill>
                <a:schemeClr val="accent3">
                  <a:lumMod val="20000"/>
                  <a:lumOff val="8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+mj-ea"/>
                  <a:ea typeface="+mj-ea"/>
                </a:endParaRPr>
              </a:p>
            </p:txBody>
          </p:sp>
          <p:sp>
            <p:nvSpPr>
              <p:cNvPr id="54" name="四角形: 上の 2 つの角を丸める 53">
                <a:extLst>
                  <a:ext uri="{FF2B5EF4-FFF2-40B4-BE49-F238E27FC236}">
                    <a16:creationId xmlns:a16="http://schemas.microsoft.com/office/drawing/2014/main" id="{B2A20362-BE10-2EC5-36A6-F85F9A32DC53}"/>
                  </a:ext>
                </a:extLst>
              </p:cNvPr>
              <p:cNvSpPr/>
              <p:nvPr/>
            </p:nvSpPr>
            <p:spPr>
              <a:xfrm flipV="1">
                <a:off x="4872567" y="1466139"/>
                <a:ext cx="2180166" cy="875268"/>
              </a:xfrm>
              <a:prstGeom prst="round2SameRect">
                <a:avLst>
                  <a:gd name="adj1" fmla="val 9403"/>
                  <a:gd name="adj2" fmla="val 0"/>
                </a:avLst>
              </a:prstGeom>
              <a:solidFill>
                <a:schemeClr val="accent3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77CBE823-EACE-643E-3E0C-1298FD206125}"/>
                </a:ext>
              </a:extLst>
            </p:cNvPr>
            <p:cNvSpPr txBox="1"/>
            <p:nvPr/>
          </p:nvSpPr>
          <p:spPr>
            <a:xfrm>
              <a:off x="333019" y="1732792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>
                  <a:latin typeface="+mj-ea"/>
                  <a:ea typeface="+mj-ea"/>
                </a:rPr>
                <a:t>ハコ豆知識</a:t>
              </a:r>
              <a:endParaRPr kumimoji="1" lang="ja-JP" altLang="en-US" sz="3200">
                <a:latin typeface="+mj-ea"/>
                <a:ea typeface="+mj-ea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E5DFE4BE-0B9B-C772-ADB9-68D1B27751C5}"/>
                </a:ext>
              </a:extLst>
            </p:cNvPr>
            <p:cNvSpPr txBox="1"/>
            <p:nvPr/>
          </p:nvSpPr>
          <p:spPr>
            <a:xfrm>
              <a:off x="146017" y="2293859"/>
              <a:ext cx="1866217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>
                  <a:latin typeface="+mj-ea"/>
                  <a:ea typeface="+mj-ea"/>
                </a:rPr>
                <a:t>ハコには必ず</a:t>
              </a:r>
              <a:br>
                <a:rPr kumimoji="1" lang="en-US" altLang="ja-JP" sz="1400">
                  <a:latin typeface="+mj-ea"/>
                  <a:ea typeface="+mj-ea"/>
                </a:rPr>
              </a:br>
              <a:r>
                <a:rPr kumimoji="1" lang="ja-JP" altLang="en-US" sz="1400">
                  <a:latin typeface="+mj-ea"/>
                  <a:ea typeface="+mj-ea"/>
                </a:rPr>
                <a:t>「決着メーター」が</a:t>
              </a:r>
              <a:br>
                <a:rPr kumimoji="1" lang="en-US" altLang="ja-JP" sz="1400">
                  <a:latin typeface="+mj-ea"/>
                  <a:ea typeface="+mj-ea"/>
                </a:rPr>
              </a:br>
              <a:r>
                <a:rPr kumimoji="1" lang="ja-JP" altLang="en-US" sz="1400">
                  <a:latin typeface="+mj-ea"/>
                  <a:ea typeface="+mj-ea"/>
                </a:rPr>
                <a:t>存在するらしい</a:t>
              </a:r>
              <a:r>
                <a:rPr kumimoji="1" lang="en-US" altLang="ja-JP" sz="1400">
                  <a:latin typeface="+mj-ea"/>
                  <a:ea typeface="+mj-ea"/>
                </a:rPr>
                <a:t>…</a:t>
              </a:r>
              <a:br>
                <a:rPr kumimoji="1" lang="en-US" altLang="ja-JP" sz="1400">
                  <a:latin typeface="+mj-ea"/>
                  <a:ea typeface="+mj-ea"/>
                </a:rPr>
              </a:br>
              <a:br>
                <a:rPr kumimoji="1" lang="en-US" altLang="ja-JP" sz="1400">
                  <a:latin typeface="+mj-ea"/>
                  <a:ea typeface="+mj-ea"/>
                </a:rPr>
              </a:br>
              <a:r>
                <a:rPr kumimoji="1" lang="ja-JP" altLang="en-US" sz="1400">
                  <a:latin typeface="+mj-ea"/>
                  <a:ea typeface="+mj-ea"/>
                </a:rPr>
                <a:t>選択中の面にしか</a:t>
              </a:r>
              <a:br>
                <a:rPr kumimoji="1" lang="en-US" altLang="ja-JP" sz="1400">
                  <a:latin typeface="+mj-ea"/>
                  <a:ea typeface="+mj-ea"/>
                </a:rPr>
              </a:br>
              <a:r>
                <a:rPr kumimoji="1" lang="ja-JP" altLang="en-US" sz="1400">
                  <a:latin typeface="+mj-ea"/>
                  <a:ea typeface="+mj-ea"/>
                </a:rPr>
                <a:t>オフダは貼れない！</a:t>
              </a:r>
              <a:br>
                <a:rPr kumimoji="1" lang="en-US" altLang="ja-JP" sz="1400">
                  <a:latin typeface="+mj-ea"/>
                  <a:ea typeface="+mj-ea"/>
                </a:rPr>
              </a:br>
              <a:br>
                <a:rPr kumimoji="1" lang="en-US" altLang="ja-JP" sz="1400">
                  <a:latin typeface="+mj-ea"/>
                  <a:ea typeface="+mj-ea"/>
                </a:rPr>
              </a:br>
              <a:r>
                <a:rPr kumimoji="1" lang="ja-JP" altLang="en-US" sz="1400">
                  <a:latin typeface="+mj-ea"/>
                  <a:ea typeface="+mj-ea"/>
                </a:rPr>
                <a:t>フリック</a:t>
              </a:r>
              <a:r>
                <a:rPr kumimoji="1" lang="en-US" altLang="ja-JP" sz="1400">
                  <a:latin typeface="+mj-ea"/>
                  <a:ea typeface="+mj-ea"/>
                </a:rPr>
                <a:t>or</a:t>
              </a:r>
              <a:r>
                <a:rPr kumimoji="1" lang="ja-JP" altLang="en-US" sz="1400">
                  <a:latin typeface="+mj-ea"/>
                  <a:ea typeface="+mj-ea"/>
                </a:rPr>
                <a:t>タッチで</a:t>
              </a:r>
              <a:br>
                <a:rPr kumimoji="1" lang="en-US" altLang="ja-JP" sz="1400">
                  <a:latin typeface="+mj-ea"/>
                  <a:ea typeface="+mj-ea"/>
                </a:rPr>
              </a:br>
              <a:r>
                <a:rPr kumimoji="1" lang="ja-JP" altLang="en-US" sz="1400">
                  <a:latin typeface="+mj-ea"/>
                  <a:ea typeface="+mj-ea"/>
                </a:rPr>
                <a:t>ハコの面を選択！</a:t>
              </a:r>
              <a:endParaRPr kumimoji="1" lang="ja-JP" altLang="en-US" sz="200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0419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CF19-A270-9305-7737-F7D37F11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C48685-7F76-CDBA-B5CF-30C8CF247013}"/>
              </a:ext>
            </a:extLst>
          </p:cNvPr>
          <p:cNvSpPr txBox="1"/>
          <p:nvPr/>
        </p:nvSpPr>
        <p:spPr>
          <a:xfrm>
            <a:off x="1314420" y="279401"/>
            <a:ext cx="74077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相手のオフダを無力化して</a:t>
            </a:r>
            <a:endParaRPr kumimoji="1" lang="ja-JP" altLang="en-US" sz="54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0EAA9D-5EFD-D310-311E-97B60D4B81C8}"/>
              </a:ext>
            </a:extLst>
          </p:cNvPr>
          <p:cNvSpPr txBox="1"/>
          <p:nvPr/>
        </p:nvSpPr>
        <p:spPr>
          <a:xfrm>
            <a:off x="2719886" y="5545667"/>
            <a:ext cx="47660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ハコを占領しろ！</a:t>
            </a:r>
            <a:endParaRPr kumimoji="1" lang="ja-JP" altLang="en-US" sz="54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460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D30AD-BCCB-6BF4-50F4-79EEF548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C0E699-91BA-5E3A-4151-6C9B80441ADD}"/>
              </a:ext>
            </a:extLst>
          </p:cNvPr>
          <p:cNvSpPr txBox="1"/>
          <p:nvPr/>
        </p:nvSpPr>
        <p:spPr>
          <a:xfrm>
            <a:off x="1136620" y="1502834"/>
            <a:ext cx="2815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ゲームフロー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98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BE71C-DB4B-2755-A4A5-3AEB9529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9EFA91-CA53-4D41-BE0E-1B3F174C860B}"/>
              </a:ext>
            </a:extLst>
          </p:cNvPr>
          <p:cNvSpPr txBox="1"/>
          <p:nvPr/>
        </p:nvSpPr>
        <p:spPr>
          <a:xfrm>
            <a:off x="868047" y="1061647"/>
            <a:ext cx="23503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マネタイズ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98B39E4-D80E-F630-886F-461AA45CADC5}"/>
              </a:ext>
            </a:extLst>
          </p:cNvPr>
          <p:cNvSpPr txBox="1"/>
          <p:nvPr/>
        </p:nvSpPr>
        <p:spPr>
          <a:xfrm>
            <a:off x="924954" y="4734524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開発環境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553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ADD9-D75A-D53E-0C18-CDD014A0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746CF6-6B3F-34B8-221F-FFDAE34DADB1}"/>
              </a:ext>
            </a:extLst>
          </p:cNvPr>
          <p:cNvSpPr txBox="1"/>
          <p:nvPr/>
        </p:nvSpPr>
        <p:spPr>
          <a:xfrm>
            <a:off x="1136620" y="1502834"/>
            <a:ext cx="19527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コピー用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7369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D0AB13-4A4A-F7FA-AA96-AAB564FC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8C8DA6-06B6-5F36-5AC2-52551519CC68}"/>
              </a:ext>
            </a:extLst>
          </p:cNvPr>
          <p:cNvSpPr txBox="1"/>
          <p:nvPr/>
        </p:nvSpPr>
        <p:spPr>
          <a:xfrm>
            <a:off x="3871353" y="2527301"/>
            <a:ext cx="23823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6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ボツ</a:t>
            </a:r>
          </a:p>
        </p:txBody>
      </p:sp>
    </p:spTree>
    <p:extLst>
      <p:ext uri="{BB962C8B-B14F-4D97-AF65-F5344CB8AC3E}">
        <p14:creationId xmlns:p14="http://schemas.microsoft.com/office/powerpoint/2010/main" val="3749587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4839D8-37F8-822E-27CA-18DF898D00AC}"/>
              </a:ext>
            </a:extLst>
          </p:cNvPr>
          <p:cNvSpPr txBox="1"/>
          <p:nvPr/>
        </p:nvSpPr>
        <p:spPr>
          <a:xfrm>
            <a:off x="278483" y="5786970"/>
            <a:ext cx="9349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貼って戦い、ハコノナカを制しろ。</a:t>
            </a:r>
            <a:endParaRPr kumimoji="1" lang="ja-JP" altLang="en-US" sz="54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DD1359B-1B83-08F8-94F3-C36492DE43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694"/>
            <a:ext cx="9906000" cy="55721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6617B9-B6D1-0799-E9BF-6E901F402A8E}"/>
              </a:ext>
            </a:extLst>
          </p:cNvPr>
          <p:cNvSpPr txBox="1"/>
          <p:nvPr/>
        </p:nvSpPr>
        <p:spPr>
          <a:xfrm>
            <a:off x="9205312" y="82028"/>
            <a:ext cx="609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1/5</a:t>
            </a:r>
            <a:endParaRPr kumimoji="1" lang="ja-JP" altLang="en-US" sz="28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DB8911D-9722-67D9-1CF1-657852FEDB44}"/>
              </a:ext>
            </a:extLst>
          </p:cNvPr>
          <p:cNvSpPr txBox="1"/>
          <p:nvPr/>
        </p:nvSpPr>
        <p:spPr>
          <a:xfrm>
            <a:off x="91227" y="82028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ゲーム体験</a:t>
            </a:r>
          </a:p>
        </p:txBody>
      </p:sp>
    </p:spTree>
    <p:extLst>
      <p:ext uri="{BB962C8B-B14F-4D97-AF65-F5344CB8AC3E}">
        <p14:creationId xmlns:p14="http://schemas.microsoft.com/office/powerpoint/2010/main" val="261644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2541AE-5D0C-666F-C55C-E9D6AFE8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100CC2-80A6-FE05-0201-8571F0340F66}"/>
              </a:ext>
            </a:extLst>
          </p:cNvPr>
          <p:cNvSpPr txBox="1"/>
          <p:nvPr/>
        </p:nvSpPr>
        <p:spPr>
          <a:xfrm>
            <a:off x="573217" y="355600"/>
            <a:ext cx="1819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54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72B826-DE49-3884-FE84-1AC0E42EE416}"/>
              </a:ext>
            </a:extLst>
          </p:cNvPr>
          <p:cNvSpPr txBox="1"/>
          <p:nvPr/>
        </p:nvSpPr>
        <p:spPr>
          <a:xfrm>
            <a:off x="1136620" y="1502834"/>
            <a:ext cx="51507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キャッチコピー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…</a:t>
            </a:r>
            <a:r>
              <a:rPr kumimoji="1" lang="en-US" altLang="ja-JP" sz="54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00</a:t>
            </a:r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ｐ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.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32216E5-0370-88ED-E620-D78D18959F0F}"/>
              </a:ext>
            </a:extLst>
          </p:cNvPr>
          <p:cNvSpPr txBox="1"/>
          <p:nvPr/>
        </p:nvSpPr>
        <p:spPr>
          <a:xfrm>
            <a:off x="1339820" y="2538347"/>
            <a:ext cx="4879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ゲームフロー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…</a:t>
            </a:r>
            <a:r>
              <a:rPr kumimoji="1" lang="en-US" altLang="ja-JP" sz="54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00</a:t>
            </a:r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ｐ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.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EFFC80D-18A9-B942-1A1D-759CA047AE9A}"/>
              </a:ext>
            </a:extLst>
          </p:cNvPr>
          <p:cNvSpPr txBox="1"/>
          <p:nvPr/>
        </p:nvSpPr>
        <p:spPr>
          <a:xfrm>
            <a:off x="1864753" y="3589867"/>
            <a:ext cx="5705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ゲームシステム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1…</a:t>
            </a:r>
            <a:r>
              <a:rPr kumimoji="1" lang="en-US" altLang="ja-JP" sz="54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00</a:t>
            </a:r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ｐ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.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47463B-BE0D-9B50-8568-ABA31CFFDB8A}"/>
              </a:ext>
            </a:extLst>
          </p:cNvPr>
          <p:cNvSpPr txBox="1"/>
          <p:nvPr/>
        </p:nvSpPr>
        <p:spPr>
          <a:xfrm>
            <a:off x="3528079" y="5452534"/>
            <a:ext cx="53832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ゲームシステム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…</a:t>
            </a:r>
            <a:r>
              <a:rPr kumimoji="1" lang="en-US" altLang="ja-JP" sz="54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00</a:t>
            </a:r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ｐ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.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363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780620-4BFC-DC4C-87C0-435B8614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8E40EA-58A4-9EC2-7918-C1DEE7069FAF}"/>
              </a:ext>
            </a:extLst>
          </p:cNvPr>
          <p:cNvSpPr txBox="1"/>
          <p:nvPr/>
        </p:nvSpPr>
        <p:spPr>
          <a:xfrm>
            <a:off x="573217" y="355600"/>
            <a:ext cx="1819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54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CD706F-60D2-C2F3-6B3A-6BEFADB04AB6}"/>
              </a:ext>
            </a:extLst>
          </p:cNvPr>
          <p:cNvSpPr txBox="1"/>
          <p:nvPr/>
        </p:nvSpPr>
        <p:spPr>
          <a:xfrm>
            <a:off x="1136620" y="1502834"/>
            <a:ext cx="3086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キャッチコピー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9E20479-FF40-F5C4-AD31-DC9F03DD2099}"/>
              </a:ext>
            </a:extLst>
          </p:cNvPr>
          <p:cNvSpPr txBox="1"/>
          <p:nvPr/>
        </p:nvSpPr>
        <p:spPr>
          <a:xfrm>
            <a:off x="1339820" y="2538347"/>
            <a:ext cx="2815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ゲームフロー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26ED407-58F8-35FF-CF03-1C6D6D8F5D9F}"/>
              </a:ext>
            </a:extLst>
          </p:cNvPr>
          <p:cNvSpPr txBox="1"/>
          <p:nvPr/>
        </p:nvSpPr>
        <p:spPr>
          <a:xfrm>
            <a:off x="1864753" y="3589867"/>
            <a:ext cx="3640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ゲームシステム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1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9752E3B-69CC-9ACF-302C-2FD5570F60AF}"/>
              </a:ext>
            </a:extLst>
          </p:cNvPr>
          <p:cNvSpPr txBox="1"/>
          <p:nvPr/>
        </p:nvSpPr>
        <p:spPr>
          <a:xfrm>
            <a:off x="2747417" y="4516967"/>
            <a:ext cx="3640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ゲームシステム</a:t>
            </a:r>
            <a:r>
              <a:rPr kumimoji="1" lang="en-US" altLang="ja-JP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3ADC83-836F-247D-1F00-8F4DC795DDDD}"/>
              </a:ext>
            </a:extLst>
          </p:cNvPr>
          <p:cNvSpPr txBox="1"/>
          <p:nvPr/>
        </p:nvSpPr>
        <p:spPr>
          <a:xfrm>
            <a:off x="3890417" y="5630334"/>
            <a:ext cx="3640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プロジェクト概要</a:t>
            </a:r>
            <a:endParaRPr kumimoji="1" lang="ja-JP" altLang="en-US" sz="54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5168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4">
      <a:dk1>
        <a:srgbClr val="F2F2F2"/>
      </a:dk1>
      <a:lt1>
        <a:srgbClr val="262626"/>
      </a:lt1>
      <a:dk2>
        <a:srgbClr val="D8D8D8"/>
      </a:dk2>
      <a:lt2>
        <a:srgbClr val="3F3F3F"/>
      </a:lt2>
      <a:accent1>
        <a:srgbClr val="C00000"/>
      </a:accent1>
      <a:accent2>
        <a:srgbClr val="FFC000"/>
      </a:accent2>
      <a:accent3>
        <a:srgbClr val="00B050"/>
      </a:accent3>
      <a:accent4>
        <a:srgbClr val="00B0F0"/>
      </a:accent4>
      <a:accent5>
        <a:srgbClr val="0070C0"/>
      </a:accent5>
      <a:accent6>
        <a:srgbClr val="7030A0"/>
      </a:accent6>
      <a:hlink>
        <a:srgbClr val="92D050"/>
      </a:hlink>
      <a:folHlink>
        <a:srgbClr val="002060"/>
      </a:folHlink>
    </a:clrScheme>
    <a:fontScheme name="ユーザー定義 6">
      <a:majorFont>
        <a:latin typeface="Aptos Display"/>
        <a:ea typeface="クラフト明朝"/>
        <a:cs typeface=""/>
      </a:majorFont>
      <a:minorFont>
        <a:latin typeface="KaitouYokokuGothic Heavy"/>
        <a:ea typeface="装甲明朝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4temp.potx" id="{EF0E86F0-D7A7-4754-A67E-1F5E05441387}" vid="{85081E8F-2E64-49B0-9166-B089D4E207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A4temp</Template>
  <TotalTime>3864</TotalTime>
  <Words>220</Words>
  <Application>Microsoft Office PowerPoint</Application>
  <PresentationFormat>A4 210 x 297 mm</PresentationFormat>
  <Paragraphs>45</Paragraphs>
  <Slides>12</Slides>
  <Notes>0</Notes>
  <HiddenSlides>4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HGP創英角ｺﾞｼｯｸUB</vt:lpstr>
      <vt:lpstr>クラフト明朝</vt:lpstr>
      <vt:lpstr>装甲明朝</vt:lpstr>
      <vt:lpstr>Aptos Display</vt:lpstr>
      <vt:lpstr>Arial</vt:lpstr>
      <vt:lpstr>KaitouYokokuGothic Heavy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 player</dc:creator>
  <cp:lastModifiedBy>13 player</cp:lastModifiedBy>
  <cp:revision>2</cp:revision>
  <dcterms:created xsi:type="dcterms:W3CDTF">2026-10-24T02:00:11Z</dcterms:created>
  <dcterms:modified xsi:type="dcterms:W3CDTF">2026-10-27T14:57:41Z</dcterms:modified>
</cp:coreProperties>
</file>